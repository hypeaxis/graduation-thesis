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  <p:sldId id="264" r:id="rId6"/>
    <p:sldId id="265" r:id="rId5"/>
    <p:sldId id="266" r:id="rId4"/>
    <p:sldId id="267" r:id="rId3"/>
    <p:sldId id="268" r:id="rId2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TRƯỜNG ĐẠI HỌC BÁCH KHOA HÀ NỘI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73152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E08A90"/>
                </a:solidFill>
                <a:latin typeface="Calibri"/>
              </a:rPr>
              <a:t>ĐỒ ÁN TỐT NGHIỆP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713232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HỆ THỐNG PHÁT HIỆN XÂM NHẬP MẠNG LAI GHÉP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2000" b="0" i="0">
                <a:solidFill>
                  <a:srgbClr val="C9D4E6"/>
                </a:solidFill>
                <a:latin typeface="Calibri"/>
              </a:rPr>
              <a:t>kết hợp Snort và FT-Transformer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7315200" cy="1463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</a:rPr>
              <a:t>Sinh viên thực hiện:  [Họ và tên] — MSSV [……]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</a:rPr>
              <a:t>Lớp / Viện:  [……]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</a:rPr>
              <a:t>Giảng viên hướng dẫn:  [Học hàm, học vị — Họ tên]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C9D4E6"/>
                </a:solidFill>
                <a:latin typeface="Calibri"/>
              </a:rPr>
              <a:t>Hà Nội, [tháng] / [năm]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Nội dung trình bày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618488"/>
            <a:ext cx="67665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Mục tiêu &amp; bài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4144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459736"/>
            <a:ext cx="67665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Ba thách thức cốt lõi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8269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00984"/>
            <a:ext cx="67665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Phương pháp — ba giai đoạn nghiên cứu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239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142231"/>
            <a:ext cx="67665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Kết quả thực nghiệm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6519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983479"/>
            <a:ext cx="67665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Đặt vấn đề &amp; Mục tiêu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3977639" cy="411480"/>
          </a:xfrm>
          <a:prstGeom prst="roundRect">
            <a:avLst>
              <a:gd name="adj" fmla="val 12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VẤN ĐỀ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C1202E"/>
                </a:solidFill>
                <a:latin typeface="Calibri"/>
              </a:rPr>
              <a:t>4,45 triệu USD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606060"/>
                </a:solidFill>
                <a:latin typeface="Calibri"/>
              </a:rPr>
              <a:t>chi phí TB / vụ vi phạm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9659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C1202E"/>
                </a:solidFill>
                <a:latin typeface="Calibri"/>
              </a:rPr>
              <a:t>204 ngày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606060"/>
                </a:solidFill>
                <a:latin typeface="Calibri"/>
              </a:rPr>
              <a:t>thời gian phát hiện TB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977639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  <a:buNone/>
            </a:pPr>
            <a:r>
              <a:rPr sz="1000" b="0" i="1">
                <a:solidFill>
                  <a:srgbClr val="606060"/>
                </a:solidFill>
                <a:latin typeface="Calibri"/>
              </a:rPr>
              <a:t>Nguồn: Báo cáo IBM 2023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Bài toán NIDS: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phân loại mỗi flow → Benign / loại tấn công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yêu cầu xử lý thời gian thực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17320"/>
            <a:ext cx="3977639" cy="411480"/>
          </a:xfrm>
          <a:prstGeom prst="roundRect">
            <a:avLst>
              <a:gd name="adj" fmla="val 12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MỤC TIÊU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011680"/>
            <a:ext cx="457200" cy="777240"/>
          </a:xfrm>
          <a:prstGeom prst="roundRect">
            <a:avLst>
              <a:gd name="adj" fmla="val 1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11680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22222"/>
                </a:solidFill>
                <a:latin typeface="Calibri"/>
              </a:rPr>
              <a:t>Macro F1 &gt; 0,9 trên CIC-IDS-2017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944368"/>
            <a:ext cx="457200" cy="777240"/>
          </a:xfrm>
          <a:prstGeom prst="roundRect">
            <a:avLst>
              <a:gd name="adj" fmla="val 1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944368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22222"/>
                </a:solidFill>
                <a:latin typeface="Calibri"/>
              </a:rPr>
              <a:t>Macro F1 &gt; 0,9 trên Testbed thực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877056"/>
            <a:ext cx="457200" cy="777240"/>
          </a:xfrm>
          <a:prstGeom prst="roundRect">
            <a:avLst>
              <a:gd name="adj" fmla="val 1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3877056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22222"/>
                </a:solidFill>
                <a:latin typeface="Calibri"/>
              </a:rPr>
              <a:t>Snort + ML phát hiện bổ sung (End-to-End)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Bài toán &amp; ba thách thức cốt lõi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128016" cy="1051560"/>
          </a:xfrm>
          <a:prstGeom prst="roundRect">
            <a:avLst>
              <a:gd name="adj" fmla="val 3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028431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0B2A5E"/>
                </a:solidFill>
                <a:latin typeface="Calibri"/>
              </a:rPr>
              <a:t>1. Mất cân bằng cực đoan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C1202E"/>
                </a:solidFill>
                <a:latin typeface="Calibri"/>
              </a:rPr>
              <a:t>65.000 : 1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606060"/>
                </a:solidFill>
                <a:latin typeface="Calibri"/>
              </a:rPr>
              <a:t>Benign 83–99% · Infiltration &lt;0,01%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24328"/>
            <a:ext cx="128016" cy="1051560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24328"/>
            <a:ext cx="8028431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0B2A5E"/>
                </a:solidFill>
                <a:latin typeface="Calibri"/>
              </a:rPr>
              <a:t>2. Covariate shift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C1202E"/>
                </a:solidFill>
                <a:latin typeface="Calibri"/>
              </a:rPr>
              <a:t>99,55% → 21,93%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606060"/>
                </a:solidFill>
                <a:latin typeface="Calibri"/>
              </a:rPr>
              <a:t>CIC → Testbed WSL2 khi triển khai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31336"/>
            <a:ext cx="128016" cy="1051560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3831336"/>
            <a:ext cx="8028431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0B2A5E"/>
                </a:solidFill>
                <a:latin typeface="Calibri"/>
              </a:rPr>
              <a:t>3. Giới hạn một tầng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0B2A5E"/>
                </a:solidFill>
                <a:latin typeface="Calibri"/>
              </a:rPr>
              <a:t>Snort ⟷ ML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606060"/>
                </a:solidFill>
                <a:latin typeface="Calibri"/>
              </a:rPr>
              <a:t>Snort bỏ sót zero-day · ML bỏ sót 'giống Benign'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56632"/>
            <a:ext cx="8229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→ Mỗi thách thức được giải quyết bởi đúng một giai đoạn nghiên cứu.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Giới hạn hướng tiếp cận &amp; lý do chọn FT-Transformer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  <a:gridCol w="283464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Hướng tiếp cận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Ưu điểm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Hạn chế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Signature (Snort)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Nhanh, chính xác với tấn công đã biết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Bỏ sót zero-day / không có dấu hiệu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ML thống kê (RF/SVM)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Không cần viết luật thủ công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Kém với lớp &lt; 0,01%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2A5E"/>
                          </a:solidFill>
                          <a:latin typeface="Calibri"/>
                        </a:rPr>
                        <a:t>DL — FT-Transformer</a:t>
                      </a:r>
                    </a:p>
                  </a:txBody>
                  <a:tcPr marL="63500" marR="63500" marT="25400" marB="25400" anchor="ctr"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2A5E"/>
                          </a:solidFill>
                          <a:latin typeface="Calibri"/>
                        </a:rPr>
                        <a:t>Attention học tương tác giữa đặc trưng</a:t>
                      </a:r>
                    </a:p>
                  </a:txBody>
                  <a:tcPr marL="63500" marR="63500" marT="25400" marB="25400" anchor="ctr"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2A5E"/>
                          </a:solidFill>
                          <a:latin typeface="Calibri"/>
                        </a:rPr>
                        <a:t>Hộp đen, cần đủ dữ liệu</a:t>
                      </a:r>
                    </a:p>
                  </a:txBody>
                  <a:tcPr marL="63500" marR="63500" marT="25400" marB="25400" anchor="ctr">
                    <a:solidFill>
                      <a:srgbClr val="DDE4F0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7947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Vì sao FT-Transformer?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FFFFFF"/>
                </a:solidFill>
                <a:latin typeface="Calibri"/>
              </a:rPr>
              <a:t>Tấn công như Infiltration chỉ lộ qua TỔ HỢP đặc trưng (đích lạ + upload cao + khuya đêm)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D966"/>
                </a:solidFill>
                <a:latin typeface="Calibri"/>
              </a:rPr>
              <a:t>→ Attention phù hợp dữ liệu dạng bảng hơn MLP / Random Forest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Kiến trúc tổng quan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Pipeline xử lý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Traffic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mạng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47088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76272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Snort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(dấu hiệu)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66160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95344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CICFlowMeter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(đặc trưng)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85231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14416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FT-Transformer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(ML đa lớp)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04303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33488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Alert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Aggregator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Mạch ba giai đoạn nghiên cứu (mũi tên = kết quả GĐ trước lộ vấn đề GĐ sau)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83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NSL-KDD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FFFFFF"/>
                </a:solidFill>
                <a:latin typeface="Calibri"/>
              </a:rPr>
              <a:t>nền tảng · F1 0,68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46120" y="3694176"/>
            <a:ext cx="594360" cy="292608"/>
          </a:xfrm>
          <a:prstGeom prst="rightArrow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86200" y="3383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CIC-IDS-2017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FFFFFF"/>
                </a:solidFill>
                <a:latin typeface="Calibri"/>
              </a:rPr>
              <a:t>Macro F1 0,93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17920" y="3694176"/>
            <a:ext cx="594360" cy="292608"/>
          </a:xfrm>
          <a:prstGeom prst="rightArrow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3383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Testbed thực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FFFFFF"/>
                </a:solidFill>
                <a:latin typeface="Calibri"/>
              </a:rPr>
              <a:t>Macro F1 0,92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200" b="0" i="1">
                <a:solidFill>
                  <a:srgbClr val="606060"/>
                </a:solidFill>
                <a:latin typeface="Calibri"/>
              </a:rPr>
              <a:t>Các slide sau đi sâu từng khối.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1: Mô hình nền tảng (NSL-KDD)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7680" cy="3108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Kiến trúc hai tầng: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Autoencoder Anomaly Gate — lọc Benign, không cần nhãn tấn công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Stacking Ensemble: FTT + LightGBM → Meta-LR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Xử lý mất cân bằng: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CB-Focal Loss · Boost-Minority Val · WeightedRandomSampler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97680"/>
            <a:ext cx="4297680" cy="640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>
                <a:solidFill>
                  <a:srgbClr val="5B6B7B"/>
                </a:solidFill>
                <a:latin typeface="Calibri"/>
              </a:rPr>
              <a:t>Macro F1 = 0,6809</a:t>
            </a:r>
          </a:p>
        </p:txBody>
      </p:sp>
      <p:pic>
        <p:nvPicPr>
          <p:cNvPr id="6" name="Picture 5" descr="fig_nslkdd_per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7834"/>
            <a:ext cx="3749039" cy="2090810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937760" y="4434840"/>
            <a:ext cx="37490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900" b="0" i="1">
                <a:solidFill>
                  <a:srgbClr val="606060"/>
                </a:solidFill>
                <a:latin typeface="Calibri"/>
              </a:rPr>
              <a:t>Kết quả per-class trên KDDTest+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4709160"/>
            <a:ext cx="3749039" cy="3200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1">
                <a:solidFill>
                  <a:srgbClr val="C1202E"/>
                </a:solidFill>
                <a:latin typeface="Calibri"/>
              </a:rPr>
              <a:t>R2L Recall thấp = giới hạn cứng dataset (telnet→pop3)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2: Two-Stage Cascade (CIC-IDS-2017)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Traffic
CIC-IDS-2017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40280" y="2304288"/>
            <a:ext cx="320040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6040" y="1965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Gating Network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nhị phân · ngưỡng 0,85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880" y="2304288"/>
            <a:ext cx="320040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Expert Network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9 lớp (gộp từ 15 nhãn)</a:t>
            </a:r>
          </a:p>
        </p:txBody>
      </p:sp>
      <p:sp>
        <p:nvSpPr>
          <p:cNvPr id="9" name="Down Arrow 8"/>
          <p:cNvSpPr/>
          <p:nvPr/>
        </p:nvSpPr>
        <p:spPr>
          <a:xfrm>
            <a:off x="3383280" y="2926079"/>
            <a:ext cx="457200" cy="411480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97180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Benign ~82,7% thoát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5120640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Vì sao hai tầng: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tách 'phát hiện bất thường' khỏi 'phân loại chi tiết' → gradient lớp hiếm không bị 83,4% Benign lấn át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Expert chỉ xử lý ~17,3% lưu lượng đáng ngờ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977639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Ablation Macro F1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D966"/>
                </a:solidFill>
                <a:latin typeface="Calibri"/>
              </a:rPr>
              <a:t>1-Stage 0,7831  →  Two-Stage 0,8817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2: Hard Negative Mining cho lớp hiếm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768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Ý tưởng — lặp 2 vòng: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thu mẫu bị phân loại sai (hard negatives)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thêm vào train với trọng số w_hard = 2,0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huấn luyện lại → tập trung gradient vào biên quyết định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B2A5E"/>
                </a:solidFill>
                <a:latin typeface="Calibri"/>
              </a:rPr>
              <a:t>Botnet F1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2E7D32"/>
                </a:solidFill>
                <a:latin typeface="Calibri"/>
              </a:rPr>
              <a:t>0,48 → 0,65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E7D32"/>
                </a:solidFill>
                <a:latin typeface="Calibri"/>
              </a:rPr>
              <a:t>+36%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B2A5E"/>
                </a:solidFill>
                <a:latin typeface="Calibri"/>
              </a:rPr>
              <a:t>Infiltration F1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2E7D32"/>
                </a:solidFill>
                <a:latin typeface="Calibri"/>
              </a:rPr>
              <a:t>0,38 → 0,59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E7D32"/>
                </a:solidFill>
                <a:latin typeface="Calibri"/>
              </a:rPr>
              <a:t>+54,5%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43400"/>
            <a:ext cx="4297680" cy="566928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Vượt class weight ×10 (Botnet 0,65 vs 0,52)</a:t>
            </a:r>
          </a:p>
        </p:txBody>
      </p:sp>
      <p:pic>
        <p:nvPicPr>
          <p:cNvPr id="8" name="Picture 7" descr="fig_hnm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53311"/>
            <a:ext cx="3749039" cy="2694177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37760" y="4617720"/>
            <a:ext cx="37490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900" b="0" i="1">
                <a:solidFill>
                  <a:srgbClr val="606060"/>
                </a:solidFill>
                <a:latin typeface="Calibri"/>
              </a:rPr>
              <a:t>Tiến triển F1 lớp hiếm qua các vòng HNM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2: Asymmetric Voting &amp; kết quả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768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  <a:buNone/>
            </a:pPr>
            <a:r>
              <a:rPr sz="1350" b="1" i="0">
                <a:solidFill>
                  <a:srgbClr val="0B2A5E"/>
                </a:solidFill>
                <a:latin typeface="Calibri"/>
              </a:rPr>
              <a:t>Ensemble: FTT + Random Forest + KNN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606060"/>
                </a:solidFill>
                <a:latin typeface="Calibri"/>
              </a:rPr>
              <a:t>(ba mô hình sai trên mẫu khác nhau → bổ sung)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0B2A5E"/>
                </a:solidFill>
                <a:latin typeface="Calibri"/>
              </a:rPr>
              <a:t>Infiltration — luật Ưu tiên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222222"/>
                </a:solidFill>
                <a:latin typeface="Calibri"/>
              </a:rPr>
              <a:t>RF hoặc KNN bỏ phiếu → nhận  (tăng Recall)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2900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0B2A5E"/>
                </a:solidFill>
                <a:latin typeface="Calibri"/>
              </a:rPr>
              <a:t>Botnet — luật Đồng thuận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222222"/>
                </a:solidFill>
                <a:latin typeface="Calibri"/>
              </a:rPr>
              <a:t>cả 3 cùng phiếu mới nhận  (tăng Precision)</a:t>
            </a:r>
          </a:p>
        </p:txBody>
      </p:sp>
      <p:pic>
        <p:nvPicPr>
          <p:cNvPr id="7" name="Picture 6" descr="fig_ensemb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12" y="1783080"/>
            <a:ext cx="3499735" cy="2514600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57200" y="4389120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Accuracy 99,55%  ·  Macro F1 = 0,9294   →   ĐẠT MỤC TIÊU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3: Chẩn đoán Covariate Shift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CIC (baseline)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2E7D32"/>
                </a:solidFill>
                <a:latin typeface="Calibri"/>
              </a:rPr>
              <a:t>99,55%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606060"/>
                </a:solidFill>
                <a:latin typeface="Calibri"/>
              </a:rPr>
              <a:t>MCC 0,9941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80360" y="2212848"/>
            <a:ext cx="320040" cy="237744"/>
          </a:xfrm>
          <a:prstGeom prst="rightArrow">
            <a:avLst/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7830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→ Testbed WSL2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C1202E"/>
                </a:solidFill>
                <a:latin typeface="Calibri"/>
              </a:rPr>
              <a:t>21,93%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C1202E"/>
                </a:solidFill>
                <a:latin typeface="Calibri"/>
              </a:rPr>
              <a:t>MCC −0,015 (sai ngược)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212848"/>
            <a:ext cx="320040" cy="237744"/>
          </a:xfrm>
          <a:prstGeom prst="rightArrow">
            <a:avLst/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78308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Re-fit Scaler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C1202E"/>
                </a:solidFill>
                <a:latin typeface="Calibri"/>
              </a:rPr>
              <a:t>6,87%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C1202E"/>
                </a:solidFill>
                <a:latin typeface="Calibri"/>
              </a:rPr>
              <a:t>phản trực giác: TỆ HƠN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4206240" cy="1828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0B2A5E"/>
                </a:solidFill>
                <a:latin typeface="Calibri"/>
              </a:rPr>
              <a:t>Nguyên nhân: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switch vật lý Gigabit → card ảo Hyper-V + NAT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đổi packet size &amp; timing → IAT, đếm cờ TCP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Kết luận: fine-tuning không đủ →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FFD966"/>
                </a:solidFill>
                <a:latin typeface="Calibri"/>
              </a:rPr>
              <a:t>thu dữ liệu thực + retrain hoàn toàn</a:t>
            </a:r>
          </a:p>
        </p:txBody>
      </p:sp>
      <p:pic>
        <p:nvPicPr>
          <p:cNvPr id="11" name="Picture 10" descr="fig_d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153270"/>
            <a:ext cx="3840480" cy="1694458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3: Testbed thực &amp; tính trung thực đánh giá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FFFFFF"/>
                </a:solidFill>
                <a:latin typeface="Calibri"/>
              </a:rPr>
              <a:t>Kali Linux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tấn công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37360" y="2116836"/>
            <a:ext cx="320040" cy="201168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874519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FFFFFF"/>
                </a:solidFill>
                <a:latin typeface="Calibri"/>
              </a:rPr>
              <a:t>LAN / WiFi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83280" y="2116836"/>
            <a:ext cx="320040" cy="201168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1874519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Windows 11 + WSL2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victim (Mirrored Net)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874519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Dataset V8.5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D966"/>
                </a:solidFill>
                <a:latin typeface="Calibri"/>
              </a:rPr>
              <a:t>111.825 flows · 5 lớp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C1202E"/>
                </a:solidFill>
                <a:latin typeface="Calibri"/>
              </a:rPr>
              <a:t>Trung thực 1 — PortScan không phân tách trong NAT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222222"/>
                </a:solidFill>
                <a:latin typeface="Calibri"/>
              </a:rPr>
              <a:t>&lt; 9% F1 qua MỌI thuật toán (vấn đề dữ liệu) → dùng surrogate CIC Friday PortScan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C1202E"/>
                </a:solidFill>
                <a:latin typeface="Calibri"/>
              </a:rPr>
              <a:t>Trung thực 2 — Val đa dạng miền tin cậy hơn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222222"/>
                </a:solidFill>
                <a:latin typeface="Calibri"/>
              </a:rPr>
              <a:t>val đồng nhất miền ~97%  vs  val đa dạng miền 91,7% (BruteForce F1 chênh 14%)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B2A5E"/>
                </a:solidFill>
                <a:latin typeface="Calibri"/>
              </a:rPr>
              <a:t>→ chênh lệch do CHẤT LƯỢNG ĐÁNH GIÁ, không phải mô hình  (đóng góp 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3: Kết quả V8.5 &amp; Hệ thống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3</a:t>
            </a:r>
          </a:p>
        </p:txBody>
      </p:sp>
      <p:pic>
        <p:nvPicPr>
          <p:cNvPr id="4" name="Picture 3" descr="fig_v85_per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9715"/>
            <a:ext cx="4114800" cy="2481369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617720"/>
            <a:ext cx="4114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900" b="0" i="1">
                <a:solidFill>
                  <a:srgbClr val="606060"/>
                </a:solidFill>
                <a:latin typeface="Calibri"/>
              </a:rPr>
              <a:t>Kết quả per-class V8.5 (val đa dạng miền)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783080"/>
            <a:ext cx="3931920" cy="868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2E7D32"/>
                </a:solidFill>
                <a:latin typeface="Calibri"/>
              </a:rPr>
              <a:t>Macro F1 = 91,7%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Balanced Acc 91,1% · MCC 0,865  →  ĐẠT MỤC TIÊU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88920"/>
            <a:ext cx="393192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PortScan F1 100% (surrogate) · DoS 0,93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BruteForce F1 0,86 (Recall 0,90)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7947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FFFFFF"/>
                </a:solidFill>
                <a:latin typeface="Calibri"/>
              </a:rPr>
              <a:t>Hệ thống Hybrid tích hợp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FFFFF"/>
                </a:solidFill>
                <a:latin typeface="Calibri"/>
              </a:rPr>
              <a:t>Snort 3 + CICFlowMeter + FTT V8.5 (song song)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FFD966"/>
                </a:solidFill>
                <a:latin typeface="Calibri"/>
              </a:rPr>
              <a:t>Phần cứng phổ thông: i7 Gen11, 16GB RAM, KHÔNG GPU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Thử nghiệm End-to-End: tính bổ sung Snort ⟷ ML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77724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14600"/>
                <a:gridCol w="2514600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Loại tấn công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Snort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FTT V8.5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PortScan (nmap)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BruteForce (hydra)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DoS slowhttptest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1202E"/>
                          </a:solidFill>
                          <a:latin typeface="Calibri"/>
                        </a:rPr>
                        <a:t>Bỏ sót (HTTP hợp lệ)</a:t>
                      </a:r>
                    </a:p>
                  </a:txBody>
                  <a:tcPr marL="63500" marR="63500" marT="25400" marB="25400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Calibri"/>
                        </a:rPr>
                        <a:t>CHỈ ML phát hiện</a:t>
                      </a:r>
                    </a:p>
                  </a:txBody>
                  <a:tcPr marL="63500" marR="63500" marT="25400" marB="25400" anchor="ctr">
                    <a:solidFill>
                      <a:srgbClr val="E7F4E9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Web Attack SQLi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Web Attack XSS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Calibri"/>
                        </a:rPr>
                        <a:t>CHỈ Snort phát hiện</a:t>
                      </a:r>
                    </a:p>
                  </a:txBody>
                  <a:tcPr marL="63500" marR="63500" marT="25400" marB="25400" anchor="ctr">
                    <a:solidFill>
                      <a:srgbClr val="E7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1202E"/>
                          </a:solidFill>
                          <a:latin typeface="Calibri"/>
                        </a:rPr>
                        <a:t>Bỏ sót (payload ngắn)</a:t>
                      </a:r>
                    </a:p>
                  </a:txBody>
                  <a:tcPr marL="63500" marR="63500" marT="25400" marB="25400" anchor="ctr"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" y="4434840"/>
            <a:ext cx="7772400" cy="56692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Không tấn công nào bị bỏ sót hoàn toàn bởi CẢ HAI tầng  →  ĐẠT MỤC TIÊU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Demo hệ thống (Giai đoạn 5 — Replay V8.5)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7863840" cy="27889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i="1">
                <a:solidFill>
                  <a:srgbClr val="606060"/>
                </a:solidFill>
                <a:latin typeface="Calibri"/>
              </a:rPr>
              <a:t>[ Ảnh chụp màn hình dashboard.html đang phát hiện realtime — kịch bản "dos" ]</a:t>
            </a:r>
          </a:p>
          <a:p>
            <a:pPr algn="ctr">
              <a:buNone/>
            </a:pPr>
            <a:r>
              <a:rPr sz="1000">
                <a:solidFill>
                  <a:srgbClr val="606060"/>
                </a:solidFill>
                <a:latin typeface="Calibri"/>
              </a:rPr>
              <a:t>Nguồn: Final/05_Replay_Detection/dashboard.html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389120"/>
            <a:ext cx="7863840" cy="621792"/>
          </a:xfrm>
          <a:prstGeom prst="roundRect">
            <a:avLst>
              <a:gd name="adj" fmla="val 8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REPLAY ≠ LIVE: phát lại corpus flow đã thu (CSV) → suy luận realtime qua WebSocket.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FD966"/>
                </a:solidFill>
                <a:latin typeface="Calibri"/>
              </a:rPr>
              <a:t>Bắt gói trực tiếp (live capture) = hướng phát triển, chưa nằm trong kết quả báo cáo.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Đối chiếu mục tiêu &amp; Tổng kết đóng góp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4572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Mục tiêu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Kết quả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Macro F1 &gt; 0,9 trên CIC-IDS-2017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0,9294  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Macro F1 &gt; 0,9 trên Testbed thực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0,917  ✔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Snort + ML bổ sung (End-to-End)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Xác nhận  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80" y="1463040"/>
            <a:ext cx="3474720" cy="3474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Bốn đóng góp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1. Two-Stage Cascade + Asymmetric Voting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2. Hard Negative Mining 2 vòng cho lớp hiếm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3. Chẩn đoán covariate shift + Testbed thực + bằng chứng inflate metric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4. Hybrid IDS End-to-End trên phần cứng phổ thông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4572000" cy="1463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2E7D32"/>
                </a:solidFill>
                <a:latin typeface="Calibri"/>
              </a:rPr>
              <a:t>Cả ba mục tiêu đều đạt.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Hạn chế &amp; Hướng phát triển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4023360" cy="411480"/>
          </a:xfrm>
          <a:prstGeom prst="roundRect">
            <a:avLst>
              <a:gd name="adj" fmla="val 12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HẠN CHẾ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4023360" cy="3017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Testbed chỉ 5/9 lớp (thiếu DDoS, Botnet, Infiltration, Heartbleed)</a:t>
            </a:r>
          </a:p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Flow-based khó với Infiltration / Botnet</a:t>
            </a:r>
          </a:p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PortScan dùng dữ liệu surrogate</a:t>
            </a:r>
          </a:p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FTT là hộp đen — thiếu explainability</a:t>
            </a:r>
          </a:p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Độ trễ ML ~30s với 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17320"/>
            <a:ext cx="4023360" cy="411480"/>
          </a:xfrm>
          <a:prstGeom prst="roundRect">
            <a:avLst>
              <a:gd name="adj" fmla="val 12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4023360" cy="3017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Temporal / session-level (LSTM, Temporal Transformer) cho Botnet, Infiltration, Web Attack</a:t>
            </a:r>
          </a:p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Automated feature engineering</a:t>
            </a:r>
          </a:p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Federated Learning multi-site</a:t>
            </a:r>
          </a:p>
          <a:p>
            <a:pPr algn="l" indent="-137160" marL="137160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1" i="0">
                <a:solidFill>
                  <a:srgbClr val="C1202E"/>
                </a:solidFill>
                <a:latin typeface="Calibri"/>
              </a:rPr>
              <a:t>Hoàn thiện đường bắt gói trực tiếp (live capture) — đang phát triển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731520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None/>
            </a:pPr>
            <a:r>
              <a:rPr sz="3400" b="1" i="0">
                <a:solidFill>
                  <a:srgbClr val="FFFFFF"/>
                </a:solidFill>
                <a:latin typeface="Calibri"/>
              </a:rPr>
              <a:t>TRÂN TRỌNG CẢM ƠN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2000" b="0" i="0">
                <a:solidFill>
                  <a:srgbClr val="C9D4E6"/>
                </a:solidFill>
                <a:latin typeface="Calibri"/>
              </a:rPr>
              <a:t>Hội đồng đã lắng nghe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</a:rPr>
              <a:t>[Họ tên] — [email/liên hệ]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Phụ lục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None/>
            </a:pPr>
            <a:r>
              <a:rPr sz="3000" b="1" i="0">
                <a:solidFill>
                  <a:srgbClr val="0B2A5E"/>
                </a:solidFill>
                <a:latin typeface="Calibri"/>
              </a:rPr>
              <a:t>PHỤ LỤC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500" b="0" i="0">
                <a:solidFill>
                  <a:srgbClr val="606060"/>
                </a:solidFill>
                <a:latin typeface="Calibri"/>
              </a:rPr>
              <a:t>Slide dự phòng cho phần hỏi–đáp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Phụ lục — PortScan không phân tách trong WSL2/NAT</a:t>
            </a:r>
          </a:p>
        </p:txBody>
      </p:sp>
      <p:pic>
        <p:nvPicPr>
          <p:cNvPr id="3" name="Picture 2" descr="fig_portscan_insepa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62488"/>
            <a:ext cx="4937760" cy="2584383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577840" y="1737360"/>
            <a:ext cx="3108960" cy="2926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F1 &lt; 9% qua mọi thuật toán:</a:t>
            </a:r>
          </a:p>
          <a:p>
            <a:pPr algn="l" indent="-137160" marL="137160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FTT (CE / Focal / weight×5): 6,8–8,1%</a:t>
            </a:r>
          </a:p>
          <a:p>
            <a:pPr algn="l" indent="-137160" marL="137160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Random Forest: 5,2%</a:t>
            </a:r>
          </a:p>
          <a:p>
            <a:pPr algn="l" indent="-137160" marL="137160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KNN: 4,9%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C1202E"/>
                </a:solidFill>
                <a:latin typeface="Calibri"/>
              </a:rPr>
              <a:t>→ vấn đề DỮ LIỆU, không phải mô hình</a:t>
            </a:r>
          </a:p>
          <a:p>
            <a:pPr algn="l" indent="-137160" marL="137160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1" i="0">
                <a:solidFill>
                  <a:srgbClr val="2E7D32"/>
                </a:solidFill>
                <a:latin typeface="Calibri"/>
              </a:rPr>
              <a:t>Surrogate CIC Friday PortScan → F1 = 100%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Phụ lục — Kết quả per-class CIC-IDS-2017 (9 lớp)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7498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17320"/>
                <a:gridCol w="141732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Lớp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Benign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0,9972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2.031.715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DoS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0,9683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0,9963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0,9821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225.024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DDoS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114.453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PortScan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0,9936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0,9963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142.079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BruteForce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0,9473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0,9724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12.369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Web Attack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0,9084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0,9810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0,9433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1.950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Botnet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0,7947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0,6826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0,7344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1.758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Infiltration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0,9524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0,6061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0,7407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Heartbleed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1,0000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1,0000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1,0000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074920"/>
            <a:ext cx="7498079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 i="0">
                <a:solidFill>
                  <a:srgbClr val="0B2A5E"/>
                </a:solidFill>
                <a:latin typeface="Calibri"/>
              </a:rPr>
              <a:t>Macro F1 = 0,9294 · Accuracy = 99,55%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12</cp:revision>
  <dcterms:created xsi:type="dcterms:W3CDTF">2021-05-28T04:32:29Z</dcterms:created>
  <dcterms:modified xsi:type="dcterms:W3CDTF">2022-12-12T05:01:43Z</dcterms:modified>
</cp:coreProperties>
</file>